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53A55"/>
                </a:solidFill>
                <a:latin typeface="+mn-lt"/>
              </a:rPr>
              <a:t>Default rate by credit history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by credit history</c:v>
                </c:pt>
              </c:strCache>
            </c:strRef>
          </c:tx>
          <c:spPr>
            <a:solidFill>
              <a:srgbClr val="2DB057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B0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2B2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Average</c:v>
                  </c:pt>
                  <c:pt idx="2">
                    <c:v>Bad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</c:v>
                </c:pt>
                <c:pt idx="1">
                  <c:v>0.3181818181818182</c:v>
                </c:pt>
                <c:pt idx="2">
                  <c:v>0.48148148148148145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300" u="none">
                  <a:solidFill>
                    <a:srgbClr val="0818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5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D8E8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7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53A55"/>
                </a:solidFill>
                <a:latin typeface="+mn-lt"/>
              </a:rPr>
              <a:t>Default rate by employment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by employment</c:v>
                </c:pt>
              </c:strCache>
            </c:strRef>
          </c:tx>
          <c:spPr>
            <a:solidFill>
              <a:srgbClr val="2DB057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B0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2B2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Employed</c:v>
                  </c:pt>
                  <c:pt idx="1">
                    <c:v>Self-Employed</c:v>
                  </c:pt>
                  <c:pt idx="2">
                    <c:v>Unemployed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0.09836065573770492</c:v>
                </c:pt>
                <c:pt idx="1">
                  <c:v>0.21428571428571427</c:v>
                </c:pt>
                <c:pt idx="2">
                  <c:v>0.4927536231884058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300" u="none">
                  <a:solidFill>
                    <a:srgbClr val="0818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5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D8E8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7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53A55"/>
                </a:solidFill>
                <a:latin typeface="+mn-lt"/>
              </a:rPr>
              <a:t>Default rate by loan-to-income (LTI)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by loan-to-income (LTI) band</c:v>
                </c:pt>
              </c:strCache>
            </c:strRef>
          </c:tx>
          <c:spPr>
            <a:solidFill>
              <a:srgbClr val="2DB057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B0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2B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2B2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 0.8</c:v>
                  </c:pt>
                  <c:pt idx="1">
                    <c:v>0.8–1.5</c:v>
                  </c:pt>
                  <c:pt idx="2">
                    <c:v>1.5–2.0</c:v>
                  </c:pt>
                  <c:pt idx="3">
                    <c:v>&gt; 2.0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0.0709</c:v>
                </c:pt>
                <c:pt idx="1">
                  <c:v>0.413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300" u="none">
                  <a:solidFill>
                    <a:srgbClr val="0818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5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9525" cap="flat">
              <a:solidFill>
                <a:srgbClr val="D8E8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7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53A55"/>
                </a:solidFill>
                <a:latin typeface="+mn-lt"/>
              </a:rPr>
              <a:t>Default rate by annual income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by annual income (₹)</c:v>
                </c:pt>
              </c:strCache>
            </c:strRef>
          </c:tx>
          <c:spPr>
            <a:solidFill>
              <a:srgbClr val="D42B20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2B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2B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7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B0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B05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20–30K</c:v>
                  </c:pt>
                  <c:pt idx="1">
                    <c:v>30–45K</c:v>
                  </c:pt>
                  <c:pt idx="2">
                    <c:v>45–60K</c:v>
                  </c:pt>
                  <c:pt idx="3">
                    <c:v>60–80K</c:v>
                  </c:pt>
                  <c:pt idx="4">
                    <c:v>80K+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0.7037</c:v>
                </c:pt>
                <c:pt idx="1">
                  <c:v>0.5357</c:v>
                </c:pt>
                <c:pt idx="2">
                  <c:v>0.2759</c:v>
                </c:pt>
                <c:pt idx="3">
                  <c:v>0.1778</c:v>
                </c:pt>
                <c:pt idx="4">
                  <c:v>0.0704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300" u="none">
                  <a:solidFill>
                    <a:srgbClr val="0818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5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9525" cap="flat">
              <a:solidFill>
                <a:srgbClr val="D8E8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7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53A55"/>
                </a:solidFill>
                <a:latin typeface="+mn-lt"/>
              </a:rPr>
              <a:t>What the model weighs (share of standardised coefficients)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9FB3C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3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3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56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56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56B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Age</c:v>
                  </c:pt>
                  <c:pt idx="1">
                    <c:v>Annual income</c:v>
                  </c:pt>
                  <c:pt idx="2">
                    <c:v>Employment</c:v>
                  </c:pt>
                  <c:pt idx="3">
                    <c:v>Credit history</c:v>
                  </c:pt>
                  <c:pt idx="4">
                    <c:v>LTI ratio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0.05</c:v>
                </c:pt>
                <c:pt idx="2">
                  <c:v>0.23</c:v>
                </c:pt>
                <c:pt idx="3">
                  <c:v>0.35</c:v>
                </c:pt>
                <c:pt idx="4">
                  <c:v>0.35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300" u="none">
                  <a:solidFill>
                    <a:srgbClr val="0818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5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b"/>
        <c:majorGridlines>
          <c:spPr>
            <a:ln w="9525" cap="flat">
              <a:solidFill>
                <a:srgbClr val="D8E8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7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53A55"/>
                </a:solidFill>
                <a:latin typeface="+mn-lt"/>
              </a:rPr>
              <a:t>Share of users vs share of spend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users</c:v>
                </c:pt>
              </c:strCache>
            </c:strRef>
          </c:tx>
          <c:spPr>
            <a:solidFill>
              <a:srgbClr val="1056B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Spenders</c:v>
                  </c:pt>
                  <c:pt idx="1">
                    <c:v>Mid-Tier</c:v>
                  </c:pt>
                  <c:pt idx="2">
                    <c:v>Frequent Users</c:v>
                  </c:pt>
                  <c:pt idx="3">
                    <c:v>Low Activity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0.45</c:v>
                </c:pt>
                <c:pt idx="2">
                  <c:v>0.15</c:v>
                </c:pt>
                <c:pt idx="3">
                  <c:v>0.09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spend</c:v>
                </c:pt>
              </c:strCache>
            </c:strRef>
          </c:tx>
          <c:spPr>
            <a:solidFill>
              <a:srgbClr val="2DB0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818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Spenders</c:v>
                  </c:pt>
                  <c:pt idx="1">
                    <c:v>Mid-Tier</c:v>
                  </c:pt>
                  <c:pt idx="2">
                    <c:v>Frequent Users</c:v>
                  </c:pt>
                  <c:pt idx="3">
                    <c:v>Low Activity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0.5356</c:v>
                </c:pt>
                <c:pt idx="1">
                  <c:v>0.2973</c:v>
                </c:pt>
                <c:pt idx="2">
                  <c:v>0.114</c:v>
                </c:pt>
                <c:pt idx="3">
                  <c:v>0.0531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818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5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D8E8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70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5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092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C"/>
                </a:solidFill>
              </a:rPr>
              <a:t>CREDINTEL  •  FinTech Credit Risk &amp; Business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E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092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CREDINTEL  •  FinTech Credit Risk &amp; Business Intelligence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 txBox="1"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A8AD6"/>
                </a:solidFill>
              </a:rPr>
              <a:t>CRED</a:t>
            </a:r>
            <a:pPr indent="0" marL="0">
              <a:buNone/>
            </a:pPr>
            <a:r>
              <a:rPr lang="en-US" sz="6600" b="1" dirty="0">
                <a:solidFill>
                  <a:srgbClr val="2DB057"/>
                </a:solidFill>
              </a:rPr>
              <a:t>INTEL</a:t>
            </a:r>
            <a:endParaRPr lang="en-US" sz="6600" dirty="0"/>
          </a:p>
        </p:txBody>
      </p:sp>
      <p:sp>
        <p:nvSpPr>
          <p:cNvPr id="3" name="Hook"/>
          <p:cNvSpPr txBox="1"/>
          <p:nvPr/>
        </p:nvSpPr>
        <p:spPr>
          <a:xfrm>
            <a:off x="457200" y="21945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Can data tell a lender who to trust, who to watch, and where to grow?</a:t>
            </a:r>
            <a:endParaRPr lang="en-US" sz="3800" dirty="0"/>
          </a:p>
        </p:txBody>
      </p:sp>
      <p:sp>
        <p:nvSpPr>
          <p:cNvPr id="4" name="Topics"/>
          <p:cNvSpPr txBox="1"/>
          <p:nvPr/>
        </p:nvSpPr>
        <p:spPr>
          <a:xfrm>
            <a:off x="45720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C"/>
                </a:solidFill>
              </a:rPr>
              <a:t>Credit risk  •  Customer segmentation  •  Portfolio analytics</a:t>
            </a:r>
            <a:endParaRPr lang="en-US" sz="1600" dirty="0"/>
          </a:p>
        </p:txBody>
      </p:sp>
      <p:sp>
        <p:nvSpPr>
          <p:cNvPr id="5" name="KPI card 1"/>
          <p:cNvSpPr/>
          <p:nvPr/>
        </p:nvSpPr>
        <p:spPr>
          <a:xfrm>
            <a:off x="457200" y="512064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5578"/>
            </a:solidFill>
            <a:prstDash val="solid"/>
          </a:ln>
        </p:spPr>
      </p:sp>
      <p:sp>
        <p:nvSpPr>
          <p:cNvPr id="6" name="KPI value 1"/>
          <p:cNvSpPr txBox="1"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FB4FF"/>
                </a:solidFill>
              </a:rPr>
              <a:t>93.3%</a:t>
            </a:r>
            <a:endParaRPr lang="en-US" sz="3600" dirty="0"/>
          </a:p>
        </p:txBody>
      </p:sp>
      <p:sp>
        <p:nvSpPr>
          <p:cNvPr id="7" name="KPI label 1"/>
          <p:cNvSpPr txBox="1"/>
          <p:nvPr/>
        </p:nvSpPr>
        <p:spPr>
          <a:xfrm>
            <a:off x="685800" y="5897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</a:rPr>
              <a:t>Test accuracy</a:t>
            </a:r>
            <a:endParaRPr lang="en-US" sz="1400" dirty="0"/>
          </a:p>
        </p:txBody>
      </p:sp>
      <p:sp>
        <p:nvSpPr>
          <p:cNvPr id="8" name="KPI card 2"/>
          <p:cNvSpPr/>
          <p:nvPr/>
        </p:nvSpPr>
        <p:spPr>
          <a:xfrm>
            <a:off x="3474720" y="512064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5578"/>
            </a:solidFill>
            <a:prstDash val="solid"/>
          </a:ln>
        </p:spPr>
      </p:sp>
      <p:sp>
        <p:nvSpPr>
          <p:cNvPr id="9" name="KPI value 2"/>
          <p:cNvSpPr txBox="1"/>
          <p:nvPr/>
        </p:nvSpPr>
        <p:spPr>
          <a:xfrm>
            <a:off x="370332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D680"/>
                </a:solidFill>
              </a:rPr>
              <a:t>0.993</a:t>
            </a:r>
            <a:endParaRPr lang="en-US" sz="3600" dirty="0"/>
          </a:p>
        </p:txBody>
      </p:sp>
      <p:sp>
        <p:nvSpPr>
          <p:cNvPr id="10" name="KPI label 2"/>
          <p:cNvSpPr txBox="1"/>
          <p:nvPr/>
        </p:nvSpPr>
        <p:spPr>
          <a:xfrm>
            <a:off x="3703320" y="5897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</a:rPr>
              <a:t>AUC-ROC</a:t>
            </a:r>
            <a:endParaRPr lang="en-US" sz="1400" dirty="0"/>
          </a:p>
        </p:txBody>
      </p:sp>
      <p:sp>
        <p:nvSpPr>
          <p:cNvPr id="11" name="KPI card 3"/>
          <p:cNvSpPr/>
          <p:nvPr/>
        </p:nvSpPr>
        <p:spPr>
          <a:xfrm>
            <a:off x="457200" y="653796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5578"/>
            </a:solidFill>
            <a:prstDash val="solid"/>
          </a:ln>
        </p:spPr>
      </p:sp>
      <p:sp>
        <p:nvSpPr>
          <p:cNvPr id="12" name="KPI value 3"/>
          <p:cNvSpPr txBox="1"/>
          <p:nvPr/>
        </p:nvSpPr>
        <p:spPr>
          <a:xfrm>
            <a:off x="685800" y="6647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FB4FF"/>
                </a:solidFill>
              </a:rPr>
              <a:t>200</a:t>
            </a:r>
            <a:endParaRPr lang="en-US" sz="3600" dirty="0"/>
          </a:p>
        </p:txBody>
      </p:sp>
      <p:sp>
        <p:nvSpPr>
          <p:cNvPr id="13" name="KPI label 3"/>
          <p:cNvSpPr txBox="1"/>
          <p:nvPr/>
        </p:nvSpPr>
        <p:spPr>
          <a:xfrm>
            <a:off x="685800" y="7315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</a:rPr>
              <a:t>Loans analysed</a:t>
            </a:r>
            <a:endParaRPr lang="en-US" sz="1400" dirty="0"/>
          </a:p>
        </p:txBody>
      </p:sp>
      <p:sp>
        <p:nvSpPr>
          <p:cNvPr id="14" name="KPI card 4"/>
          <p:cNvSpPr/>
          <p:nvPr/>
        </p:nvSpPr>
        <p:spPr>
          <a:xfrm>
            <a:off x="3474720" y="653796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5578"/>
            </a:solidFill>
            <a:prstDash val="solid"/>
          </a:ln>
        </p:spPr>
      </p:sp>
      <p:sp>
        <p:nvSpPr>
          <p:cNvPr id="15" name="KPI value 4"/>
          <p:cNvSpPr txBox="1"/>
          <p:nvPr/>
        </p:nvSpPr>
        <p:spPr>
          <a:xfrm>
            <a:off x="3703320" y="6647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5E"/>
                </a:solidFill>
              </a:rPr>
              <a:t>27.5%</a:t>
            </a:r>
            <a:endParaRPr lang="en-US" sz="3600" dirty="0"/>
          </a:p>
        </p:txBody>
      </p:sp>
      <p:sp>
        <p:nvSpPr>
          <p:cNvPr id="16" name="KPI label 4"/>
          <p:cNvSpPr txBox="1"/>
          <p:nvPr/>
        </p:nvSpPr>
        <p:spPr>
          <a:xfrm>
            <a:off x="3703320" y="7315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</a:rPr>
              <a:t>Default rate</a:t>
            </a:r>
            <a:endParaRPr lang="en-US" sz="1400" dirty="0"/>
          </a:p>
        </p:txBody>
      </p:sp>
      <p:sp>
        <p:nvSpPr>
          <p:cNvPr id="17" name="Swipe cue"/>
          <p:cNvSpPr txBox="1"/>
          <p:nvPr/>
        </p:nvSpPr>
        <p:spPr>
          <a:xfrm>
            <a:off x="493776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B057"/>
                </a:solidFill>
              </a:rPr>
              <a:t>Swipe  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portfolio: 1 in 4 loans defaults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0"/>
                </a:solidFill>
              </a:rPr>
              <a:t>200 simulated loan records, ₹87.3L disbursed</a:t>
            </a:r>
            <a:endParaRPr lang="en-US" sz="1500" dirty="0"/>
          </a:p>
        </p:txBody>
      </p:sp>
      <p:sp>
        <p:nvSpPr>
          <p:cNvPr id="4" name="KPI1 card"/>
          <p:cNvSpPr/>
          <p:nvPr/>
        </p:nvSpPr>
        <p:spPr>
          <a:xfrm>
            <a:off x="457200" y="2331720"/>
            <a:ext cx="2880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5" name="KPI1 value"/>
          <p:cNvSpPr txBox="1"/>
          <p:nvPr/>
        </p:nvSpPr>
        <p:spPr>
          <a:xfrm>
            <a:off x="640080" y="2468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2B20"/>
                </a:solidFill>
              </a:rPr>
              <a:t>27.5%</a:t>
            </a:r>
            <a:endParaRPr lang="en-US" sz="3400" dirty="0"/>
          </a:p>
        </p:txBody>
      </p:sp>
      <p:sp>
        <p:nvSpPr>
          <p:cNvPr id="6" name="KPI1 label"/>
          <p:cNvSpPr txBox="1"/>
          <p:nvPr/>
        </p:nvSpPr>
        <p:spPr>
          <a:xfrm>
            <a:off x="640080" y="3127248"/>
            <a:ext cx="2514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Default rate (55 of 200)</a:t>
            </a:r>
            <a:endParaRPr lang="en-US" sz="1300" dirty="0"/>
          </a:p>
        </p:txBody>
      </p:sp>
      <p:sp>
        <p:nvSpPr>
          <p:cNvPr id="7" name="KPI2 card"/>
          <p:cNvSpPr/>
          <p:nvPr/>
        </p:nvSpPr>
        <p:spPr>
          <a:xfrm>
            <a:off x="3520440" y="2331720"/>
            <a:ext cx="2880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8" name="KPI2 value"/>
          <p:cNvSpPr txBox="1"/>
          <p:nvPr/>
        </p:nvSpPr>
        <p:spPr>
          <a:xfrm>
            <a:off x="3703320" y="2468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2B20"/>
                </a:solidFill>
              </a:rPr>
              <a:t>₹30.9L</a:t>
            </a:r>
            <a:endParaRPr lang="en-US" sz="3400" dirty="0"/>
          </a:p>
        </p:txBody>
      </p:sp>
      <p:sp>
        <p:nvSpPr>
          <p:cNvPr id="9" name="KPI2 label"/>
          <p:cNvSpPr txBox="1"/>
          <p:nvPr/>
        </p:nvSpPr>
        <p:spPr>
          <a:xfrm>
            <a:off x="3703320" y="3127248"/>
            <a:ext cx="2514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NPA exposure (defaulted principal)</a:t>
            </a:r>
            <a:endParaRPr lang="en-US" sz="1300" dirty="0"/>
          </a:p>
        </p:txBody>
      </p:sp>
      <p:sp>
        <p:nvSpPr>
          <p:cNvPr id="10" name="KPI3 card"/>
          <p:cNvSpPr/>
          <p:nvPr/>
        </p:nvSpPr>
        <p:spPr>
          <a:xfrm>
            <a:off x="457200" y="3840480"/>
            <a:ext cx="2880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1" name="KPI3 value"/>
          <p:cNvSpPr txBox="1"/>
          <p:nvPr/>
        </p:nvSpPr>
        <p:spPr>
          <a:xfrm>
            <a:off x="640080" y="3977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56B5"/>
                </a:solidFill>
              </a:rPr>
              <a:t>₹87.3L</a:t>
            </a:r>
            <a:endParaRPr lang="en-US" sz="3400" dirty="0"/>
          </a:p>
        </p:txBody>
      </p:sp>
      <p:sp>
        <p:nvSpPr>
          <p:cNvPr id="12" name="KPI3 label"/>
          <p:cNvSpPr txBox="1"/>
          <p:nvPr/>
        </p:nvSpPr>
        <p:spPr>
          <a:xfrm>
            <a:off x="640080" y="4636008"/>
            <a:ext cx="2514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Total disbursed</a:t>
            </a:r>
            <a:endParaRPr lang="en-US" sz="1300" dirty="0"/>
          </a:p>
        </p:txBody>
      </p:sp>
      <p:sp>
        <p:nvSpPr>
          <p:cNvPr id="13" name="KPI4 card"/>
          <p:cNvSpPr/>
          <p:nvPr/>
        </p:nvSpPr>
        <p:spPr>
          <a:xfrm>
            <a:off x="3520440" y="3840480"/>
            <a:ext cx="2880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4" name="KPI4 value"/>
          <p:cNvSpPr txBox="1"/>
          <p:nvPr/>
        </p:nvSpPr>
        <p:spPr>
          <a:xfrm>
            <a:off x="3703320" y="3977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7000"/>
                </a:solidFill>
              </a:rPr>
              <a:t>35.4%</a:t>
            </a:r>
            <a:endParaRPr lang="en-US" sz="3400" dirty="0"/>
          </a:p>
        </p:txBody>
      </p:sp>
      <p:sp>
        <p:nvSpPr>
          <p:cNvPr id="15" name="KPI4 label"/>
          <p:cNvSpPr txBox="1"/>
          <p:nvPr/>
        </p:nvSpPr>
        <p:spPr>
          <a:xfrm>
            <a:off x="3703320" y="4636008"/>
            <a:ext cx="2514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NPA as % of disbursed</a:t>
            </a:r>
            <a:endParaRPr lang="en-US" sz="1300" dirty="0"/>
          </a:p>
        </p:txBody>
      </p:sp>
      <p:sp>
        <p:nvSpPr>
          <p:cNvPr id="16" name="Illustrative card"/>
          <p:cNvSpPr/>
          <p:nvPr/>
        </p:nvSpPr>
        <p:spPr>
          <a:xfrm>
            <a:off x="457200" y="5394960"/>
            <a:ext cx="594360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7" name="Illustrative note"/>
          <p:cNvSpPr txBox="1"/>
          <p:nvPr/>
        </p:nvSpPr>
        <p:spPr>
          <a:xfrm>
            <a:off x="685800" y="54406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Illustrative P&amp;L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53A55"/>
                </a:solidFill>
              </a:rPr>
              <a:t>At a 12% annual rate, one year of interest is ~₹10.5L against ₹30.9L of defaulted principal: a net of about −₹20.4L. Assumption-driven, not an accounting result.</a:t>
            </a:r>
            <a:endParaRPr lang="en-US" sz="1400" dirty="0"/>
          </a:p>
        </p:txBody>
      </p:sp>
      <p:sp>
        <p:nvSpPr>
          <p:cNvPr id="18" name="Callout bg"/>
          <p:cNvSpPr/>
          <p:nvPr/>
        </p:nvSpPr>
        <p:spPr>
          <a:xfrm>
            <a:off x="457200" y="708660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056B5"/>
          </a:solidFill>
          <a:ln w="12700">
            <a:solidFill>
              <a:srgbClr val="1056B5"/>
            </a:solidFill>
            <a:prstDash val="solid"/>
          </a:ln>
        </p:spPr>
      </p:sp>
      <p:sp>
        <p:nvSpPr>
          <p:cNvPr id="19" name="Callout"/>
          <p:cNvSpPr txBox="1"/>
          <p:nvPr/>
        </p:nvSpPr>
        <p:spPr>
          <a:xfrm>
            <a:off x="685800" y="7086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Defaults, not volume, are the profit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Credit history and employment drive defaults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783080"/>
          <a:ext cx="5943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" y="4434840"/>
          <a:ext cx="5943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llout bg"/>
          <p:cNvSpPr/>
          <p:nvPr/>
        </p:nvSpPr>
        <p:spPr>
          <a:xfrm>
            <a:off x="457200" y="71323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D42B20"/>
          </a:solidFill>
          <a:ln w="12700">
            <a:solidFill>
              <a:srgbClr val="D42B20"/>
            </a:solidFill>
            <a:prstDash val="solid"/>
          </a:ln>
        </p:spPr>
      </p:sp>
      <p:sp>
        <p:nvSpPr>
          <p:cNvPr id="6" name="Callout"/>
          <p:cNvSpPr txBox="1"/>
          <p:nvPr/>
        </p:nvSpPr>
        <p:spPr>
          <a:xfrm>
            <a:off x="685800" y="7132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Unemployed: 49.3% default vs 9.8% for Employed, ~5× higher.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Debt burden is the clearest red flag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783080"/>
          <a:ext cx="5943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" y="4434840"/>
          <a:ext cx="5943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llout bg"/>
          <p:cNvSpPr/>
          <p:nvPr/>
        </p:nvSpPr>
        <p:spPr>
          <a:xfrm>
            <a:off x="457200" y="71323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D42B20"/>
          </a:solidFill>
          <a:ln w="12700">
            <a:solidFill>
              <a:srgbClr val="D42B20"/>
            </a:solidFill>
            <a:prstDash val="solid"/>
          </a:ln>
        </p:spPr>
      </p:sp>
      <p:sp>
        <p:nvSpPr>
          <p:cNvPr id="6" name="Callout"/>
          <p:cNvSpPr txBox="1"/>
          <p:nvPr/>
        </p:nvSpPr>
        <p:spPr>
          <a:xfrm>
            <a:off x="685800" y="7132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All 27 loans with LTI above 1.5 defaulted.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simple, explainable model catches 15 of 16 defaulters</a:t>
            </a:r>
            <a:endParaRPr lang="en-US" sz="3000" dirty="0"/>
          </a:p>
        </p:txBody>
      </p:sp>
      <p:sp>
        <p:nvSpPr>
          <p:cNvPr id="3" name="Metric card 1"/>
          <p:cNvSpPr/>
          <p:nvPr/>
        </p:nvSpPr>
        <p:spPr>
          <a:xfrm>
            <a:off x="457200" y="182880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4" name="Metric value 1"/>
          <p:cNvSpPr txBox="1"/>
          <p:nvPr/>
        </p:nvSpPr>
        <p:spPr>
          <a:xfrm>
            <a:off x="548640" y="1920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56B5"/>
                </a:solidFill>
              </a:rPr>
              <a:t>93.3%</a:t>
            </a:r>
            <a:endParaRPr lang="en-US" sz="2600" dirty="0"/>
          </a:p>
        </p:txBody>
      </p:sp>
      <p:sp>
        <p:nvSpPr>
          <p:cNvPr id="5" name="Metric label 1"/>
          <p:cNvSpPr txBox="1"/>
          <p:nvPr/>
        </p:nvSpPr>
        <p:spPr>
          <a:xfrm>
            <a:off x="54864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Accuracy</a:t>
            </a:r>
            <a:endParaRPr lang="en-US" sz="1300" dirty="0"/>
          </a:p>
        </p:txBody>
      </p:sp>
      <p:sp>
        <p:nvSpPr>
          <p:cNvPr id="6" name="Metric card 2"/>
          <p:cNvSpPr/>
          <p:nvPr/>
        </p:nvSpPr>
        <p:spPr>
          <a:xfrm>
            <a:off x="1965960" y="182880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7" name="Metric value 2"/>
          <p:cNvSpPr txBox="1"/>
          <p:nvPr/>
        </p:nvSpPr>
        <p:spPr>
          <a:xfrm>
            <a:off x="2057400" y="1920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56B5"/>
                </a:solidFill>
              </a:rPr>
              <a:t>83.3%</a:t>
            </a:r>
            <a:endParaRPr lang="en-US" sz="2600" dirty="0"/>
          </a:p>
        </p:txBody>
      </p:sp>
      <p:sp>
        <p:nvSpPr>
          <p:cNvPr id="8" name="Metric label 2"/>
          <p:cNvSpPr txBox="1"/>
          <p:nvPr/>
        </p:nvSpPr>
        <p:spPr>
          <a:xfrm>
            <a:off x="205740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Precision</a:t>
            </a:r>
            <a:endParaRPr lang="en-US" sz="1300" dirty="0"/>
          </a:p>
        </p:txBody>
      </p:sp>
      <p:sp>
        <p:nvSpPr>
          <p:cNvPr id="9" name="Metric card 3"/>
          <p:cNvSpPr/>
          <p:nvPr/>
        </p:nvSpPr>
        <p:spPr>
          <a:xfrm>
            <a:off x="3474720" y="182880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0" name="Metric value 3"/>
          <p:cNvSpPr txBox="1"/>
          <p:nvPr/>
        </p:nvSpPr>
        <p:spPr>
          <a:xfrm>
            <a:off x="3566160" y="1920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B057"/>
                </a:solidFill>
              </a:rPr>
              <a:t>93.8%</a:t>
            </a:r>
            <a:endParaRPr lang="en-US" sz="2600" dirty="0"/>
          </a:p>
        </p:txBody>
      </p:sp>
      <p:sp>
        <p:nvSpPr>
          <p:cNvPr id="11" name="Metric label 3"/>
          <p:cNvSpPr txBox="1"/>
          <p:nvPr/>
        </p:nvSpPr>
        <p:spPr>
          <a:xfrm>
            <a:off x="356616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Recall</a:t>
            </a:r>
            <a:endParaRPr lang="en-US" sz="1300" dirty="0"/>
          </a:p>
        </p:txBody>
      </p:sp>
      <p:sp>
        <p:nvSpPr>
          <p:cNvPr id="12" name="Metric card 4"/>
          <p:cNvSpPr/>
          <p:nvPr/>
        </p:nvSpPr>
        <p:spPr>
          <a:xfrm>
            <a:off x="4983480" y="182880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3" name="Metric value 4"/>
          <p:cNvSpPr txBox="1"/>
          <p:nvPr/>
        </p:nvSpPr>
        <p:spPr>
          <a:xfrm>
            <a:off x="5074920" y="1920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B057"/>
                </a:solidFill>
              </a:rPr>
              <a:t>0.993</a:t>
            </a:r>
            <a:endParaRPr lang="en-US" sz="2600" dirty="0"/>
          </a:p>
        </p:txBody>
      </p:sp>
      <p:sp>
        <p:nvSpPr>
          <p:cNvPr id="14" name="Metric label 4"/>
          <p:cNvSpPr txBox="1"/>
          <p:nvPr/>
        </p:nvSpPr>
        <p:spPr>
          <a:xfrm>
            <a:off x="507492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AUC-ROC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3200400"/>
          <a:ext cx="5943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onfusion note"/>
          <p:cNvSpPr txBox="1"/>
          <p:nvPr/>
        </p:nvSpPr>
        <p:spPr>
          <a:xfrm>
            <a:off x="457200" y="6309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A55"/>
                </a:solidFill>
              </a:rPr>
              <a:t>Logistic regression, 70/30 split. Hold-out: 41 TN, 15 TP, 3 FP, 1 FN.</a:t>
            </a:r>
            <a:endParaRPr lang="en-US" sz="1300" dirty="0"/>
          </a:p>
        </p:txBody>
      </p:sp>
      <p:sp>
        <p:nvSpPr>
          <p:cNvPr id="17" name="Caveat bg"/>
          <p:cNvSpPr/>
          <p:nvPr/>
        </p:nvSpPr>
        <p:spPr>
          <a:xfrm>
            <a:off x="457200" y="676656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18" name="Caveat"/>
          <p:cNvSpPr txBox="1"/>
          <p:nvPr/>
        </p:nvSpPr>
        <p:spPr>
          <a:xfrm>
            <a:off x="685800" y="6766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Caution: only 60 test rows (16 defaults) on simulated data. Treat as indicative, not production-grade.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31% of users generate 54% of spend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78308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ethod card"/>
          <p:cNvSpPr/>
          <p:nvPr/>
        </p:nvSpPr>
        <p:spPr>
          <a:xfrm>
            <a:off x="457200" y="5212080"/>
            <a:ext cx="594360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5" name="Method note"/>
          <p:cNvSpPr txBox="1"/>
          <p:nvPr/>
        </p:nvSpPr>
        <p:spPr>
          <a:xfrm>
            <a:off x="685800" y="525780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rule-based segments?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53A55"/>
                </a:solidFill>
              </a:rPr>
              <a:t>K-Means was tested for K = 2 to 8. Silhouette stayed at about 0.16–0.19 every time, so no strong natural clusters exist. Transparent threshold rules (spend, logins, transactions) won.</a:t>
            </a:r>
            <a:endParaRPr lang="en-US" sz="1400" dirty="0"/>
          </a:p>
        </p:txBody>
      </p:sp>
      <p:sp>
        <p:nvSpPr>
          <p:cNvPr id="6" name="Callout bg"/>
          <p:cNvSpPr/>
          <p:nvPr/>
        </p:nvSpPr>
        <p:spPr>
          <a:xfrm>
            <a:off x="457200" y="71323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056B5"/>
          </a:solidFill>
          <a:ln w="12700">
            <a:solidFill>
              <a:srgbClr val="1056B5"/>
            </a:solidFill>
            <a:prstDash val="solid"/>
          </a:ln>
        </p:spPr>
      </p:sp>
      <p:sp>
        <p:nvSpPr>
          <p:cNvPr id="7" name="Callout"/>
          <p:cNvSpPr txBox="1"/>
          <p:nvPr/>
        </p:nvSpPr>
        <p:spPr>
          <a:xfrm>
            <a:off x="685800" y="7132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Protect High Spenders. Re-engage the 18 Low Activity users.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5486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a lender should do next</a:t>
            </a:r>
            <a:endParaRPr lang="en-US" sz="3000" dirty="0"/>
          </a:p>
        </p:txBody>
      </p:sp>
      <p:sp>
        <p:nvSpPr>
          <p:cNvPr id="3" name="Action card 1"/>
          <p:cNvSpPr/>
          <p:nvPr/>
        </p:nvSpPr>
        <p:spPr>
          <a:xfrm>
            <a:off x="457200" y="1828800"/>
            <a:ext cx="59436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4" name="Action badge 1"/>
          <p:cNvSpPr/>
          <p:nvPr/>
        </p:nvSpPr>
        <p:spPr>
          <a:xfrm>
            <a:off x="640080" y="2103120"/>
            <a:ext cx="594360" cy="594360"/>
          </a:xfrm>
          <a:prstGeom prst="ellipse">
            <a:avLst/>
          </a:prstGeom>
          <a:solidFill>
            <a:srgbClr val="D42B20"/>
          </a:solidFill>
          <a:ln w="12700">
            <a:solidFill>
              <a:srgbClr val="D42B20"/>
            </a:solidFill>
            <a:prstDash val="solid"/>
          </a:ln>
        </p:spPr>
      </p:sp>
      <p:sp>
        <p:nvSpPr>
          <p:cNvPr id="5" name="Action number 1"/>
          <p:cNvSpPr txBox="1"/>
          <p:nvPr/>
        </p:nvSpPr>
        <p:spPr>
          <a:xfrm>
            <a:off x="64008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Action text 1"/>
          <p:cNvSpPr txBox="1"/>
          <p:nvPr/>
        </p:nvSpPr>
        <p:spPr>
          <a:xfrm>
            <a:off x="1417320" y="18745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Tighten lending to unemployed borrowers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253A55"/>
                </a:solidFill>
              </a:rPr>
              <a:t>49.3% default (34 of 69). Add manual review and a loan-size cap.</a:t>
            </a:r>
            <a:endParaRPr lang="en-US" sz="1700" dirty="0"/>
          </a:p>
        </p:txBody>
      </p:sp>
      <p:sp>
        <p:nvSpPr>
          <p:cNvPr id="7" name="Action card 2"/>
          <p:cNvSpPr/>
          <p:nvPr/>
        </p:nvSpPr>
        <p:spPr>
          <a:xfrm>
            <a:off x="457200" y="3108960"/>
            <a:ext cx="59436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8" name="Action badge 2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D42B20"/>
          </a:solidFill>
          <a:ln w="12700">
            <a:solidFill>
              <a:srgbClr val="D42B20"/>
            </a:solidFill>
            <a:prstDash val="solid"/>
          </a:ln>
        </p:spPr>
      </p:sp>
      <p:sp>
        <p:nvSpPr>
          <p:cNvPr id="9" name="Action number 2"/>
          <p:cNvSpPr txBox="1"/>
          <p:nvPr/>
        </p:nvSpPr>
        <p:spPr>
          <a:xfrm>
            <a:off x="64008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Action text 2"/>
          <p:cNvSpPr txBox="1"/>
          <p:nvPr/>
        </p:nvSpPr>
        <p:spPr>
          <a:xfrm>
            <a:off x="1417320" y="3154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Cap loan-to-income at 1.5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253A55"/>
                </a:solidFill>
              </a:rPr>
              <a:t>Every loan above 1.5 defaulted in this sample (27 of 27).</a:t>
            </a:r>
            <a:endParaRPr lang="en-US" sz="1700" dirty="0"/>
          </a:p>
        </p:txBody>
      </p:sp>
      <p:sp>
        <p:nvSpPr>
          <p:cNvPr id="11" name="Action card 3"/>
          <p:cNvSpPr/>
          <p:nvPr/>
        </p:nvSpPr>
        <p:spPr>
          <a:xfrm>
            <a:off x="457200" y="4389120"/>
            <a:ext cx="59436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2" name="Action badge 3"/>
          <p:cNvSpPr/>
          <p:nvPr/>
        </p:nvSpPr>
        <p:spPr>
          <a:xfrm>
            <a:off x="640080" y="4663440"/>
            <a:ext cx="594360" cy="594360"/>
          </a:xfrm>
          <a:prstGeom prst="ellipse">
            <a:avLst/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13" name="Action number 3"/>
          <p:cNvSpPr txBox="1"/>
          <p:nvPr/>
        </p:nvSpPr>
        <p:spPr>
          <a:xfrm>
            <a:off x="64008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Action text 3"/>
          <p:cNvSpPr txBox="1"/>
          <p:nvPr/>
        </p:nvSpPr>
        <p:spPr>
          <a:xfrm>
            <a:off x="1417320" y="44348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Price and underwrite by credit history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253A55"/>
                </a:solidFill>
              </a:rPr>
              <a:t>Bad history defaults at 48.1% versus 10.0% for Good.</a:t>
            </a:r>
            <a:endParaRPr lang="en-US" sz="1700" dirty="0"/>
          </a:p>
        </p:txBody>
      </p:sp>
      <p:sp>
        <p:nvSpPr>
          <p:cNvPr id="15" name="Action card 4"/>
          <p:cNvSpPr/>
          <p:nvPr/>
        </p:nvSpPr>
        <p:spPr>
          <a:xfrm>
            <a:off x="457200" y="5669280"/>
            <a:ext cx="594360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6" name="Action badge 4"/>
          <p:cNvSpPr/>
          <p:nvPr/>
        </p:nvSpPr>
        <p:spPr>
          <a:xfrm>
            <a:off x="640080" y="5943600"/>
            <a:ext cx="594360" cy="594360"/>
          </a:xfrm>
          <a:prstGeom prst="ellipse">
            <a:avLst/>
          </a:prstGeom>
          <a:solidFill>
            <a:srgbClr val="2DB057"/>
          </a:solidFill>
          <a:ln w="12700">
            <a:solidFill>
              <a:srgbClr val="2DB057"/>
            </a:solidFill>
            <a:prstDash val="solid"/>
          </a:ln>
        </p:spPr>
      </p:sp>
      <p:sp>
        <p:nvSpPr>
          <p:cNvPr id="17" name="Action number 4"/>
          <p:cNvSpPr txBox="1"/>
          <p:nvPr/>
        </p:nvSpPr>
        <p:spPr>
          <a:xfrm>
            <a:off x="640080" y="5943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Action text 4"/>
          <p:cNvSpPr txBox="1"/>
          <p:nvPr/>
        </p:nvSpPr>
        <p:spPr>
          <a:xfrm>
            <a:off x="1417320" y="57150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Focus growth on High Spenders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253A55"/>
                </a:solidFill>
              </a:rPr>
              <a:t>31% of users, 54% of spend. Re-engage 18 Low Activity users.</a:t>
            </a:r>
            <a:endParaRPr lang="en-US" sz="1700" dirty="0"/>
          </a:p>
        </p:txBody>
      </p:sp>
      <p:sp>
        <p:nvSpPr>
          <p:cNvPr id="19" name="Source note"/>
          <p:cNvSpPr txBox="1"/>
          <p:nvPr/>
        </p:nvSpPr>
        <p:spPr>
          <a:xfrm>
            <a:off x="457200" y="7040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</a:rPr>
              <a:t>Based on the 200-record simulated datasets.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45720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Dot 1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akeaway 1"/>
          <p:cNvSpPr txBox="1"/>
          <p:nvPr/>
        </p:nvSpPr>
        <p:spPr>
          <a:xfrm>
            <a:off x="960120" y="192024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8"/>
                </a:solidFill>
              </a:rPr>
              <a:t>Defaults concentrate in unemployed, bad-history and high-LTI borrowers.</a:t>
            </a:r>
            <a:endParaRPr lang="en-US" sz="1900" dirty="0"/>
          </a:p>
        </p:txBody>
      </p:sp>
      <p:sp>
        <p:nvSpPr>
          <p:cNvPr id="5" name="Dot 2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akeaway 2"/>
          <p:cNvSpPr txBox="1"/>
          <p:nvPr/>
        </p:nvSpPr>
        <p:spPr>
          <a:xfrm>
            <a:off x="960120" y="29718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8"/>
                </a:solidFill>
              </a:rPr>
              <a:t>A transparent logistic regression flags risk with 93.3% test accuracy.</a:t>
            </a:r>
            <a:endParaRPr lang="en-US" sz="1900" dirty="0"/>
          </a:p>
        </p:txBody>
      </p:sp>
      <p:sp>
        <p:nvSpPr>
          <p:cNvPr id="7" name="Dot 3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akeaway 3"/>
          <p:cNvSpPr txBox="1"/>
          <p:nvPr/>
        </p:nvSpPr>
        <p:spPr>
          <a:xfrm>
            <a:off x="960120" y="40233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8"/>
                </a:solidFill>
              </a:rPr>
              <a:t>Spend is concentrated: 31% of users drive 54% of it.</a:t>
            </a:r>
            <a:endParaRPr lang="en-US" sz="1900" dirty="0"/>
          </a:p>
        </p:txBody>
      </p:sp>
      <p:sp>
        <p:nvSpPr>
          <p:cNvPr id="9" name="Dot 4"/>
          <p:cNvSpPr/>
          <p:nvPr/>
        </p:nvSpPr>
        <p:spPr>
          <a:xfrm>
            <a:off x="457200" y="51663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akeaway 4"/>
          <p:cNvSpPr txBox="1"/>
          <p:nvPr/>
        </p:nvSpPr>
        <p:spPr>
          <a:xfrm>
            <a:off x="960120" y="507492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8"/>
                </a:solidFill>
              </a:rPr>
              <a:t>Rules beat clustering when the data has no natural clusters.</a:t>
            </a:r>
            <a:endParaRPr lang="en-US" sz="1900" dirty="0"/>
          </a:p>
        </p:txBody>
      </p:sp>
      <p:sp>
        <p:nvSpPr>
          <p:cNvPr id="11" name="CTA card"/>
          <p:cNvSpPr/>
          <p:nvPr/>
        </p:nvSpPr>
        <p:spPr>
          <a:xfrm>
            <a:off x="457200" y="6263640"/>
            <a:ext cx="59436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TA text"/>
          <p:cNvSpPr txBox="1"/>
          <p:nvPr/>
        </p:nvSpPr>
        <p:spPr>
          <a:xfrm>
            <a:off x="731520" y="62636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Try the live demo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BFE8CB"/>
                </a:solidFill>
              </a:rPr>
              <a:t>credintel-platform.netlify.app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Workbook in the comments. Simulated data (n = 200).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80924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ntel">
  <a:themeElements>
    <a:clrScheme name="CredIntel">
      <a:dk1>
        <a:srgbClr val="081828"/>
      </a:dk1>
      <a:lt1>
        <a:srgbClr val="FFFFFF"/>
      </a:lt1>
      <a:dk2>
        <a:srgbClr val="0D1F38"/>
      </a:dk2>
      <a:lt2>
        <a:srgbClr val="EEF4FC"/>
      </a:lt2>
      <a:accent1>
        <a:srgbClr val="1056B5"/>
      </a:accent1>
      <a:accent2>
        <a:srgbClr val="2DB057"/>
      </a:accent2>
      <a:accent3>
        <a:srgbClr val="D42B20"/>
      </a:accent3>
      <a:accent4>
        <a:srgbClr val="C97000"/>
      </a:accent4>
      <a:accent5>
        <a:srgbClr val="1A8AD6"/>
      </a:accent5>
      <a:accent6>
        <a:srgbClr val="077A68"/>
      </a:accent6>
      <a:hlink>
        <a:srgbClr val="1056B5"/>
      </a:hlink>
      <a:folHlink>
        <a:srgbClr val="607080"/>
      </a:folHlink>
    </a:clrScheme>
    <a:fontScheme name="CredIn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CredIntel – LinkedIn Carousel</dc:title>
  <dc:subject>PptxGenJS Presentation</dc:subject>
  <dc:creator>PptxGenJS</dc:creator>
  <cp:lastModifiedBy>PptxGenJS</cp:lastModifiedBy>
  <cp:revision>1</cp:revision>
  <dcterms:created xsi:type="dcterms:W3CDTF">2026-10-07T04:07:49Z</dcterms:created>
  <dcterms:modified xsi:type="dcterms:W3CDTF">2026-10-07T04:07:49Z</dcterms:modified>
</cp:coreProperties>
</file>